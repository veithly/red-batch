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6858000" cx="121793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1" roundtripDataSignature="AMtx7mitllkBOpSIo+foDNAV8ppHfAkj3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7072550-EF59-46E0-827C-C5B7B6B1D680}">
  <a:tblStyle styleId="{D7072550-EF59-46E0-827C-C5B7B6B1D68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9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>
  <p:cSld name="Section Header">
    <p:bg>
      <p:bgPr>
        <a:solidFill>
          <a:srgbClr val="0BA2B3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489770" y="5461000"/>
            <a:ext cx="1524000" cy="1206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9"/>
          <p:cNvSpPr/>
          <p:nvPr/>
        </p:nvSpPr>
        <p:spPr>
          <a:xfrm>
            <a:off x="3554946" y="4955133"/>
            <a:ext cx="2120057" cy="1"/>
          </a:xfrm>
          <a:custGeom>
            <a:rect b="b" l="l" r="r" t="t"/>
            <a:pathLst>
              <a:path extrusionOk="0" h="120000" w="2160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sp>
        <p:nvSpPr>
          <p:cNvPr id="13" name="Google Shape;13;p9"/>
          <p:cNvSpPr txBox="1"/>
          <p:nvPr>
            <p:ph idx="1" type="body"/>
          </p:nvPr>
        </p:nvSpPr>
        <p:spPr>
          <a:xfrm>
            <a:off x="640800" y="5886454"/>
            <a:ext cx="8280000" cy="4517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9"/>
          <p:cNvSpPr/>
          <p:nvPr/>
        </p:nvSpPr>
        <p:spPr>
          <a:xfrm>
            <a:off x="165529" y="190499"/>
            <a:ext cx="11848241" cy="6477001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miter lim="400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9"/>
          <p:cNvSpPr txBox="1"/>
          <p:nvPr>
            <p:ph type="title"/>
          </p:nvPr>
        </p:nvSpPr>
        <p:spPr>
          <a:xfrm>
            <a:off x="640800" y="4843803"/>
            <a:ext cx="8280000" cy="1037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Arial"/>
              <a:buNone/>
              <a:defRPr sz="4000"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pic>
        <p:nvPicPr>
          <p:cNvPr id="16" name="Google Shape;16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16196" y="435122"/>
            <a:ext cx="1116970" cy="363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with logo">
  <p:cSld name="Slide with logo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0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" name="Google Shape;19;p10"/>
          <p:cNvSpPr/>
          <p:nvPr/>
        </p:nvSpPr>
        <p:spPr>
          <a:xfrm>
            <a:off x="10297948" y="1240221"/>
            <a:ext cx="1481958" cy="672662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lt1"/>
            </a:solidFill>
            <a:prstDash val="solid"/>
            <a:miter lim="400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13100"/>
              </a:buClr>
              <a:buSzPts val="2800"/>
              <a:buFont typeface="Arial"/>
              <a:buNone/>
            </a:pPr>
            <a:r>
              <a:t/>
            </a:r>
            <a:endParaRPr b="1" i="0" sz="2800" u="none" cap="none" strike="noStrike">
              <a:solidFill>
                <a:srgbClr val="B4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" name="Google Shape;20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629023" y="362581"/>
            <a:ext cx="1150883" cy="4305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ntents">
  <p:cSld name="Title and 2 Content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89650" y="0"/>
            <a:ext cx="6089650" cy="2087592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692400"/>
            <a:ext cx="4178300" cy="41656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11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25" name="Google Shape;25;p11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6" name="Google Shape;26;p11"/>
          <p:cNvSpPr txBox="1"/>
          <p:nvPr>
            <p:ph idx="1" type="body"/>
          </p:nvPr>
        </p:nvSpPr>
        <p:spPr>
          <a:xfrm>
            <a:off x="360000" y="1440000"/>
            <a:ext cx="5040000" cy="2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  <a:defRPr b="1" i="0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172325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NTR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7" name="Google Shape;27;p11"/>
          <p:cNvSpPr txBox="1"/>
          <p:nvPr>
            <p:ph idx="2" type="body"/>
          </p:nvPr>
        </p:nvSpPr>
        <p:spPr>
          <a:xfrm>
            <a:off x="360000" y="1799999"/>
            <a:ext cx="504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8" name="Google Shape;28;p11"/>
          <p:cNvSpPr txBox="1"/>
          <p:nvPr>
            <p:ph idx="3" type="body"/>
          </p:nvPr>
        </p:nvSpPr>
        <p:spPr>
          <a:xfrm>
            <a:off x="6089650" y="1440000"/>
            <a:ext cx="5040000" cy="2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  <a:defRPr b="1" i="0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172325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NTR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" name="Google Shape;29;p11"/>
          <p:cNvSpPr txBox="1"/>
          <p:nvPr>
            <p:ph idx="4" type="body"/>
          </p:nvPr>
        </p:nvSpPr>
        <p:spPr>
          <a:xfrm>
            <a:off x="6089650" y="1799999"/>
            <a:ext cx="504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0" name="Google Shape;30;p11"/>
          <p:cNvSpPr/>
          <p:nvPr/>
        </p:nvSpPr>
        <p:spPr>
          <a:xfrm>
            <a:off x="500" y="6761480"/>
            <a:ext cx="12178800" cy="96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" name="Google Shape;31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7661" y="404660"/>
            <a:ext cx="1063903" cy="3463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 showMasterSp="0">
  <p:cSld name="Custom Layou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2"/>
          <p:cNvSpPr txBox="1"/>
          <p:nvPr>
            <p:ph type="title"/>
          </p:nvPr>
        </p:nvSpPr>
        <p:spPr>
          <a:xfrm>
            <a:off x="635128" y="4640687"/>
            <a:ext cx="9000000" cy="4572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8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pic>
        <p:nvPicPr>
          <p:cNvPr id="34" name="Google Shape;34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6"/>
            <a:ext cx="833598" cy="416799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12"/>
          <p:cNvSpPr/>
          <p:nvPr/>
        </p:nvSpPr>
        <p:spPr>
          <a:xfrm>
            <a:off x="165529" y="190499"/>
            <a:ext cx="11848241" cy="6477001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400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" id="36" name="Google Shape;36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0348" y="393566"/>
            <a:ext cx="6557643" cy="3556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" name="Google Shape;37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29023" y="362581"/>
            <a:ext cx="1150883" cy="4305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>
  <p:cSld name="Title Slide">
    <p:bg>
      <p:bgPr>
        <a:solidFill>
          <a:schemeClr val="accent1"/>
        </a:solid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197670" y="5461000"/>
            <a:ext cx="1816100" cy="1206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529" y="190499"/>
            <a:ext cx="1816100" cy="1206500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13"/>
          <p:cNvSpPr/>
          <p:nvPr/>
        </p:nvSpPr>
        <p:spPr>
          <a:xfrm>
            <a:off x="3554946" y="4955133"/>
            <a:ext cx="2120057" cy="1"/>
          </a:xfrm>
          <a:custGeom>
            <a:rect b="b" l="l" r="r" t="t"/>
            <a:pathLst>
              <a:path extrusionOk="0" h="120000" w="2160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sp>
        <p:nvSpPr>
          <p:cNvPr id="42" name="Google Shape;42;p13"/>
          <p:cNvSpPr/>
          <p:nvPr/>
        </p:nvSpPr>
        <p:spPr>
          <a:xfrm>
            <a:off x="165529" y="190499"/>
            <a:ext cx="11848241" cy="6477001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miter lim="400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13"/>
          <p:cNvSpPr txBox="1"/>
          <p:nvPr>
            <p:ph idx="1" type="body"/>
          </p:nvPr>
        </p:nvSpPr>
        <p:spPr>
          <a:xfrm>
            <a:off x="640800" y="5850000"/>
            <a:ext cx="3818481" cy="6301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A322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A322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4" name="Google Shape;44;p13"/>
          <p:cNvSpPr txBox="1"/>
          <p:nvPr>
            <p:ph idx="2" type="body"/>
          </p:nvPr>
        </p:nvSpPr>
        <p:spPr>
          <a:xfrm>
            <a:off x="640800" y="4574120"/>
            <a:ext cx="8822225" cy="9144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3"/>
          <p:cNvSpPr txBox="1"/>
          <p:nvPr>
            <p:ph idx="3" type="subTitle"/>
          </p:nvPr>
        </p:nvSpPr>
        <p:spPr>
          <a:xfrm>
            <a:off x="644227" y="2845823"/>
            <a:ext cx="8820000" cy="15132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1666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rial"/>
              <a:buNone/>
              <a:defRPr b="1" i="0" sz="6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46" name="Google Shape;46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121449" y="507429"/>
            <a:ext cx="1496116" cy="7480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4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49" name="Google Shape;49;p14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0" name="Google Shape;50;p14"/>
          <p:cNvSpPr txBox="1"/>
          <p:nvPr>
            <p:ph idx="1" type="body"/>
          </p:nvPr>
        </p:nvSpPr>
        <p:spPr>
          <a:xfrm>
            <a:off x="360000" y="1440000"/>
            <a:ext cx="900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  <a:defRPr b="1" i="0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172325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NTR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1" name="Google Shape;51;p14"/>
          <p:cNvSpPr txBox="1"/>
          <p:nvPr>
            <p:ph idx="2" type="body"/>
          </p:nvPr>
        </p:nvSpPr>
        <p:spPr>
          <a:xfrm>
            <a:off x="360000" y="1799999"/>
            <a:ext cx="900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Dark" showMasterSp="0">
  <p:cSld name="Title and Content Dark">
    <p:bg>
      <p:bgPr>
        <a:solidFill>
          <a:schemeClr val="accent2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5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54" name="Google Shape;54;p15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15"/>
          <p:cNvSpPr txBox="1"/>
          <p:nvPr>
            <p:ph idx="1" type="body"/>
          </p:nvPr>
        </p:nvSpPr>
        <p:spPr>
          <a:xfrm>
            <a:off x="360000" y="1440000"/>
            <a:ext cx="900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  <a:defRPr b="1" i="0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172325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NTR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6" name="Google Shape;56;p15"/>
          <p:cNvSpPr txBox="1"/>
          <p:nvPr>
            <p:ph idx="2" type="body"/>
          </p:nvPr>
        </p:nvSpPr>
        <p:spPr>
          <a:xfrm>
            <a:off x="360000" y="1799999"/>
            <a:ext cx="900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5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8" name="Google Shape;58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Teal" showMasterSp="0">
  <p:cSld name="1_Title and Content Teal">
    <p:bg>
      <p:bgPr>
        <a:solidFill>
          <a:schemeClr val="accent4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6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61" name="Google Shape;61;p16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2" name="Google Shape;62;p16"/>
          <p:cNvSpPr txBox="1"/>
          <p:nvPr>
            <p:ph idx="1" type="body"/>
          </p:nvPr>
        </p:nvSpPr>
        <p:spPr>
          <a:xfrm>
            <a:off x="360000" y="1440000"/>
            <a:ext cx="900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  <a:defRPr b="1" i="0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172325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NTR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3" name="Google Shape;63;p16"/>
          <p:cNvSpPr txBox="1"/>
          <p:nvPr>
            <p:ph idx="2" type="body"/>
          </p:nvPr>
        </p:nvSpPr>
        <p:spPr>
          <a:xfrm>
            <a:off x="360000" y="1799999"/>
            <a:ext cx="900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4" name="Google Shape;64;p16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5" name="Google Shape;65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line only">
  <p:cSld name="Headline only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7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68" name="Google Shape;68;p17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line only Dark" showMasterSp="0">
  <p:cSld name="Headline only Dark">
    <p:bg>
      <p:bgPr>
        <a:solidFill>
          <a:schemeClr val="accent2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8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71" name="Google Shape;71;p18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2" name="Google Shape;72;p18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3" name="Google Shape;73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Headline only Teal" showMasterSp="0">
  <p:cSld name="1_Headline only Teal">
    <p:bg>
      <p:bgPr>
        <a:solidFill>
          <a:schemeClr val="accent4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7" name="Google Shape;77;p19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8" name="Google Shape;78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showMasterSp="0">
  <p:cSld name="Comparison">
    <p:bg>
      <p:bgPr>
        <a:solidFill>
          <a:schemeClr val="accent3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756788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20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2" name="Google Shape;82;p20"/>
          <p:cNvSpPr txBox="1"/>
          <p:nvPr>
            <p:ph type="title"/>
          </p:nvPr>
        </p:nvSpPr>
        <p:spPr>
          <a:xfrm>
            <a:off x="359999" y="1674394"/>
            <a:ext cx="504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>
                <a:solidFill>
                  <a:schemeClr val="dk1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83" name="Google Shape;83;p20"/>
          <p:cNvSpPr txBox="1"/>
          <p:nvPr>
            <p:ph idx="1" type="body"/>
          </p:nvPr>
        </p:nvSpPr>
        <p:spPr>
          <a:xfrm>
            <a:off x="6480000" y="1674393"/>
            <a:ext cx="504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  <a:defRPr b="1" i="0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4" name="Google Shape;84;p20"/>
          <p:cNvSpPr txBox="1"/>
          <p:nvPr>
            <p:ph idx="2" type="body"/>
          </p:nvPr>
        </p:nvSpPr>
        <p:spPr>
          <a:xfrm>
            <a:off x="6480000" y="2834245"/>
            <a:ext cx="5040000" cy="3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3528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FFFFFF"/>
              </a:buClr>
              <a:buSzPts val="1680"/>
              <a:buFont typeface="Arial"/>
              <a:buChar char="•"/>
              <a:defRPr b="0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5" name="Google Shape;85;p20"/>
          <p:cNvSpPr txBox="1"/>
          <p:nvPr>
            <p:ph idx="3" type="body"/>
          </p:nvPr>
        </p:nvSpPr>
        <p:spPr>
          <a:xfrm>
            <a:off x="360000" y="2834245"/>
            <a:ext cx="5040000" cy="3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3528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8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6" name="Google Shape;86;p20"/>
          <p:cNvSpPr/>
          <p:nvPr/>
        </p:nvSpPr>
        <p:spPr>
          <a:xfrm>
            <a:off x="500" y="6761480"/>
            <a:ext cx="12178800" cy="96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7" name="Google Shape;87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Slide" showMasterSp="0">
  <p:cSld name="Quote Slide">
    <p:bg>
      <p:bgPr>
        <a:solidFill>
          <a:schemeClr val="accent2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1"/>
          <p:cNvSpPr/>
          <p:nvPr/>
        </p:nvSpPr>
        <p:spPr>
          <a:xfrm>
            <a:off x="3554946" y="4955133"/>
            <a:ext cx="2120057" cy="1"/>
          </a:xfrm>
          <a:custGeom>
            <a:rect b="b" l="l" r="r" t="t"/>
            <a:pathLst>
              <a:path extrusionOk="0" h="120000" w="2160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sp>
        <p:nvSpPr>
          <p:cNvPr id="90" name="Google Shape;90;p21"/>
          <p:cNvSpPr txBox="1"/>
          <p:nvPr/>
        </p:nvSpPr>
        <p:spPr>
          <a:xfrm>
            <a:off x="1343734" y="2179914"/>
            <a:ext cx="239177" cy="3274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</a:pPr>
            <a:r>
              <a:rPr b="1" i="0" lang="en-US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endParaRPr/>
          </a:p>
        </p:txBody>
      </p:sp>
      <p:sp>
        <p:nvSpPr>
          <p:cNvPr id="91" name="Google Shape;91;p21"/>
          <p:cNvSpPr/>
          <p:nvPr/>
        </p:nvSpPr>
        <p:spPr>
          <a:xfrm>
            <a:off x="165529" y="190499"/>
            <a:ext cx="11848241" cy="6477001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miter lim="400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21"/>
          <p:cNvSpPr/>
          <p:nvPr/>
        </p:nvSpPr>
        <p:spPr>
          <a:xfrm flipH="1" rot="10800000">
            <a:off x="9366432" y="5569929"/>
            <a:ext cx="505472" cy="505473"/>
          </a:xfrm>
          <a:prstGeom prst="rect">
            <a:avLst/>
          </a:prstGeom>
          <a:solidFill>
            <a:srgbClr val="0BA2B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21"/>
          <p:cNvSpPr txBox="1"/>
          <p:nvPr>
            <p:ph type="title"/>
          </p:nvPr>
        </p:nvSpPr>
        <p:spPr>
          <a:xfrm>
            <a:off x="1591200" y="2187168"/>
            <a:ext cx="8405525" cy="19773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Arial"/>
              <a:buNone/>
              <a:defRPr sz="3800"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94" name="Google Shape;94;p21"/>
          <p:cNvSpPr txBox="1"/>
          <p:nvPr>
            <p:ph idx="1" type="body"/>
          </p:nvPr>
        </p:nvSpPr>
        <p:spPr>
          <a:xfrm>
            <a:off x="1591200" y="4421963"/>
            <a:ext cx="7025229" cy="8355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5" name="Google Shape;95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374886" y="5067046"/>
            <a:ext cx="2006600" cy="1003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photo">
  <p:cSld name="Content with photo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2"/>
          <p:cNvSpPr/>
          <p:nvPr>
            <p:ph idx="2" type="pic"/>
          </p:nvPr>
        </p:nvSpPr>
        <p:spPr>
          <a:xfrm>
            <a:off x="7937500" y="1447601"/>
            <a:ext cx="4241800" cy="5410399"/>
          </a:xfrm>
          <a:prstGeom prst="rect">
            <a:avLst/>
          </a:prstGeom>
          <a:noFill/>
          <a:ln>
            <a:noFill/>
          </a:ln>
        </p:spPr>
      </p:sp>
      <p:sp>
        <p:nvSpPr>
          <p:cNvPr id="99" name="Google Shape;99;p22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00" name="Google Shape;100;p22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1" name="Google Shape;101;p22"/>
          <p:cNvSpPr txBox="1"/>
          <p:nvPr>
            <p:ph idx="1" type="body"/>
          </p:nvPr>
        </p:nvSpPr>
        <p:spPr>
          <a:xfrm>
            <a:off x="360000" y="1440000"/>
            <a:ext cx="720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  <a:defRPr b="1" i="0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172325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NTR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32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17232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2" name="Google Shape;102;p22"/>
          <p:cNvSpPr txBox="1"/>
          <p:nvPr>
            <p:ph idx="3" type="body"/>
          </p:nvPr>
        </p:nvSpPr>
        <p:spPr>
          <a:xfrm>
            <a:off x="360000" y="1799999"/>
            <a:ext cx="72000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3" name="Google Shape;103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937500" y="3935445"/>
            <a:ext cx="965200" cy="9652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2"/>
          <p:cNvSpPr txBox="1"/>
          <p:nvPr>
            <p:ph idx="4" type="body"/>
          </p:nvPr>
        </p:nvSpPr>
        <p:spPr>
          <a:xfrm>
            <a:off x="2793987" y="4888595"/>
            <a:ext cx="6980036" cy="1969405"/>
          </a:xfrm>
          <a:prstGeom prst="rect">
            <a:avLst/>
          </a:prstGeom>
          <a:solidFill>
            <a:srgbClr val="CCF2FF"/>
          </a:solidFill>
          <a:ln>
            <a:noFill/>
          </a:ln>
        </p:spPr>
        <p:txBody>
          <a:bodyPr anchorCtr="0" anchor="t" bIns="317500" lIns="317500" spcFirstLastPara="1" rIns="317500" wrap="square" tIns="317500">
            <a:noAutofit/>
          </a:bodyPr>
          <a:lstStyle>
            <a:lvl1pPr indent="-228600" lvl="0" marL="457200" marR="0" rtl="0" algn="l">
              <a:lnSpc>
                <a:spcPct val="115789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900"/>
              <a:buFont typeface="Arial"/>
              <a:buNone/>
              <a:defRPr b="1" i="0" sz="190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5" name="Google Shape;105;p22"/>
          <p:cNvSpPr/>
          <p:nvPr/>
        </p:nvSpPr>
        <p:spPr>
          <a:xfrm>
            <a:off x="500" y="6761480"/>
            <a:ext cx="12178800" cy="96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OC Slide 4" showMasterSp="0">
  <p:cSld name="TOC Slide 4">
    <p:bg>
      <p:bgPr>
        <a:solidFill>
          <a:schemeClr val="accent4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3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08" name="Google Shape;108;p23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9" name="Google Shape;109;p23"/>
          <p:cNvSpPr txBox="1"/>
          <p:nvPr>
            <p:ph idx="1" type="body"/>
          </p:nvPr>
        </p:nvSpPr>
        <p:spPr>
          <a:xfrm>
            <a:off x="360000" y="34451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0" name="Google Shape;110;p23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23"/>
          <p:cNvSpPr txBox="1"/>
          <p:nvPr>
            <p:ph idx="2" type="body"/>
          </p:nvPr>
        </p:nvSpPr>
        <p:spPr>
          <a:xfrm>
            <a:off x="3229990" y="34451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2" name="Google Shape;112;p23"/>
          <p:cNvSpPr txBox="1"/>
          <p:nvPr>
            <p:ph idx="3" type="body"/>
          </p:nvPr>
        </p:nvSpPr>
        <p:spPr>
          <a:xfrm>
            <a:off x="6099980" y="34451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3" name="Google Shape;113;p23"/>
          <p:cNvSpPr txBox="1"/>
          <p:nvPr>
            <p:ph idx="4" type="body"/>
          </p:nvPr>
        </p:nvSpPr>
        <p:spPr>
          <a:xfrm>
            <a:off x="8969970" y="34451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14" name="Google Shape;114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OC Slide 8" showMasterSp="0">
  <p:cSld name="TOC Slide 8">
    <p:bg>
      <p:bgPr>
        <a:solidFill>
          <a:schemeClr val="accent4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4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17" name="Google Shape;117;p24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8" name="Google Shape;118;p24"/>
          <p:cNvSpPr txBox="1"/>
          <p:nvPr>
            <p:ph idx="1" type="body"/>
          </p:nvPr>
        </p:nvSpPr>
        <p:spPr>
          <a:xfrm>
            <a:off x="360000" y="15655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9" name="Google Shape;119;p24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24"/>
          <p:cNvSpPr txBox="1"/>
          <p:nvPr>
            <p:ph idx="2" type="body"/>
          </p:nvPr>
        </p:nvSpPr>
        <p:spPr>
          <a:xfrm>
            <a:off x="3229990" y="15655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1" name="Google Shape;121;p24"/>
          <p:cNvSpPr txBox="1"/>
          <p:nvPr>
            <p:ph idx="3" type="body"/>
          </p:nvPr>
        </p:nvSpPr>
        <p:spPr>
          <a:xfrm>
            <a:off x="6099980" y="15655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2" name="Google Shape;122;p24"/>
          <p:cNvSpPr txBox="1"/>
          <p:nvPr>
            <p:ph idx="4" type="body"/>
          </p:nvPr>
        </p:nvSpPr>
        <p:spPr>
          <a:xfrm>
            <a:off x="8969970" y="1565570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3" name="Google Shape;123;p24"/>
          <p:cNvSpPr txBox="1"/>
          <p:nvPr>
            <p:ph idx="5" type="body"/>
          </p:nvPr>
        </p:nvSpPr>
        <p:spPr>
          <a:xfrm>
            <a:off x="360000" y="4077072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4" name="Google Shape;124;p24"/>
          <p:cNvSpPr txBox="1"/>
          <p:nvPr>
            <p:ph idx="6" type="body"/>
          </p:nvPr>
        </p:nvSpPr>
        <p:spPr>
          <a:xfrm>
            <a:off x="3229990" y="4077072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5" name="Google Shape;125;p24"/>
          <p:cNvSpPr txBox="1"/>
          <p:nvPr>
            <p:ph idx="7" type="body"/>
          </p:nvPr>
        </p:nvSpPr>
        <p:spPr>
          <a:xfrm>
            <a:off x="6099980" y="4077072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6" name="Google Shape;126;p24"/>
          <p:cNvSpPr txBox="1"/>
          <p:nvPr>
            <p:ph idx="8" type="body"/>
          </p:nvPr>
        </p:nvSpPr>
        <p:spPr>
          <a:xfrm>
            <a:off x="8969970" y="4077072"/>
            <a:ext cx="2520000" cy="21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7" name="Google Shape;127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slide Table Dark" showMasterSp="0">
  <p:cSld name="Agenda slide Table Dark">
    <p:bg>
      <p:bgPr>
        <a:solidFill>
          <a:schemeClr val="accent2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 txBox="1"/>
          <p:nvPr>
            <p:ph type="title"/>
          </p:nvPr>
        </p:nvSpPr>
        <p:spPr>
          <a:xfrm>
            <a:off x="359999" y="360000"/>
            <a:ext cx="9000000" cy="5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30" name="Google Shape;130;p25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1" name="Google Shape;131;p25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Google Shape;132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slide Table" showMasterSp="0">
  <p:cSld name="Agenda slide Table">
    <p:bg>
      <p:bgPr>
        <a:solidFill>
          <a:schemeClr val="accent4"/>
        </a:solidFill>
      </p:bgPr>
    </p:bg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6"/>
          <p:cNvSpPr txBox="1"/>
          <p:nvPr>
            <p:ph type="title"/>
          </p:nvPr>
        </p:nvSpPr>
        <p:spPr>
          <a:xfrm>
            <a:off x="359999" y="360000"/>
            <a:ext cx="9000000" cy="5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35" name="Google Shape;135;p26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6" name="Google Shape;136;p26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7" name="Google Shape;137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">
  <p:cSld name="Statement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7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40" name="Google Shape;140;p27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1" name="Google Shape;141;p27"/>
          <p:cNvSpPr txBox="1"/>
          <p:nvPr>
            <p:ph idx="1" type="body"/>
          </p:nvPr>
        </p:nvSpPr>
        <p:spPr>
          <a:xfrm>
            <a:off x="360000" y="2610760"/>
            <a:ext cx="3478685" cy="21082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indent="-228600" lvl="0" marL="4572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2" name="Google Shape;142;p27"/>
          <p:cNvSpPr txBox="1"/>
          <p:nvPr>
            <p:ph idx="2" type="body"/>
          </p:nvPr>
        </p:nvSpPr>
        <p:spPr>
          <a:xfrm>
            <a:off x="4308328" y="2610760"/>
            <a:ext cx="3478685" cy="210820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indent="-228600" lvl="0" marL="4572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3" name="Google Shape;143;p27"/>
          <p:cNvSpPr txBox="1"/>
          <p:nvPr>
            <p:ph idx="3" type="body"/>
          </p:nvPr>
        </p:nvSpPr>
        <p:spPr>
          <a:xfrm>
            <a:off x="8256655" y="2610760"/>
            <a:ext cx="3478685" cy="210820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indent="-228600" lvl="0" marL="4572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2800"/>
              <a:buFont typeface="Arial"/>
              <a:buNone/>
              <a:defRPr b="1" i="0" sz="2800" u="none" cap="none" strike="noStrike">
                <a:solidFill>
                  <a:srgbClr val="B4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with logo Dark" showMasterSp="0">
  <p:cSld name="Slide with logo Dark">
    <p:bg>
      <p:bgPr>
        <a:solidFill>
          <a:schemeClr val="accent2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8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6" name="Google Shape;146;p28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7" name="Google Shape;147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Slide with logo Teal" showMasterSp="0">
  <p:cSld name="1_Slide with logo Teal">
    <p:bg>
      <p:bgPr>
        <a:solidFill>
          <a:schemeClr val="accent4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9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0" name="Google Shape;150;p29"/>
          <p:cNvSpPr/>
          <p:nvPr/>
        </p:nvSpPr>
        <p:spPr>
          <a:xfrm>
            <a:off x="500" y="6761481"/>
            <a:ext cx="12178800" cy="96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1" name="Google Shape;151;p2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36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 Slide" showMasterSp="0">
  <p:cSld name="Thank You Slide">
    <p:bg>
      <p:bgPr>
        <a:solidFill>
          <a:schemeClr val="accent1"/>
        </a:solid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30"/>
          <p:cNvSpPr/>
          <p:nvPr/>
        </p:nvSpPr>
        <p:spPr>
          <a:xfrm>
            <a:off x="165529" y="190499"/>
            <a:ext cx="11848241" cy="6477001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miter lim="400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" id="154" name="Google Shape;154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0348" y="393566"/>
            <a:ext cx="6557644" cy="3556001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30"/>
          <p:cNvSpPr txBox="1"/>
          <p:nvPr>
            <p:ph idx="1" type="body"/>
          </p:nvPr>
        </p:nvSpPr>
        <p:spPr>
          <a:xfrm>
            <a:off x="617538" y="429133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6" name="Google Shape;156;p30"/>
          <p:cNvSpPr txBox="1"/>
          <p:nvPr>
            <p:ph idx="2" type="body"/>
          </p:nvPr>
        </p:nvSpPr>
        <p:spPr>
          <a:xfrm>
            <a:off x="3473690" y="429133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7" name="Google Shape;157;p30"/>
          <p:cNvSpPr txBox="1"/>
          <p:nvPr>
            <p:ph idx="3" type="body"/>
          </p:nvPr>
        </p:nvSpPr>
        <p:spPr>
          <a:xfrm>
            <a:off x="6329842" y="429133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8" name="Google Shape;158;p30"/>
          <p:cNvSpPr txBox="1"/>
          <p:nvPr>
            <p:ph idx="4" type="body"/>
          </p:nvPr>
        </p:nvSpPr>
        <p:spPr>
          <a:xfrm>
            <a:off x="9185994" y="429133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9" name="Google Shape;159;p30"/>
          <p:cNvSpPr txBox="1"/>
          <p:nvPr>
            <p:ph idx="5" type="body"/>
          </p:nvPr>
        </p:nvSpPr>
        <p:spPr>
          <a:xfrm>
            <a:off x="617538" y="472514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0" name="Google Shape;160;p30"/>
          <p:cNvSpPr txBox="1"/>
          <p:nvPr>
            <p:ph idx="6" type="body"/>
          </p:nvPr>
        </p:nvSpPr>
        <p:spPr>
          <a:xfrm>
            <a:off x="3473690" y="472514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1" name="Google Shape;161;p30"/>
          <p:cNvSpPr txBox="1"/>
          <p:nvPr>
            <p:ph idx="7" type="body"/>
          </p:nvPr>
        </p:nvSpPr>
        <p:spPr>
          <a:xfrm>
            <a:off x="6329842" y="472514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30"/>
          <p:cNvSpPr txBox="1"/>
          <p:nvPr>
            <p:ph idx="8" type="body"/>
          </p:nvPr>
        </p:nvSpPr>
        <p:spPr>
          <a:xfrm>
            <a:off x="9185994" y="4725144"/>
            <a:ext cx="234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7565"/>
              </a:buClr>
              <a:buSzPts val="1400"/>
              <a:buFont typeface="Arial"/>
              <a:buChar char="-"/>
              <a:defRPr b="0" i="0" sz="14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lr>
                <a:srgbClr val="007565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00756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3" name="Google Shape;163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897966" y="362285"/>
            <a:ext cx="835200" cy="41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9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" name="Google Shape;7;p8"/>
          <p:cNvSpPr/>
          <p:nvPr/>
        </p:nvSpPr>
        <p:spPr>
          <a:xfrm>
            <a:off x="500" y="6761480"/>
            <a:ext cx="12178800" cy="96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40000"/>
              </a:buClr>
              <a:buSzPts val="190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rgbClr val="6131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8;p8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1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b="1" i="0" sz="1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" name="Google Shape;9;p8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10897966" y="362286"/>
            <a:ext cx="833598" cy="416799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"/>
          <p:cNvSpPr txBox="1"/>
          <p:nvPr>
            <p:ph idx="1" type="body"/>
          </p:nvPr>
        </p:nvSpPr>
        <p:spPr>
          <a:xfrm>
            <a:off x="640800" y="3608250"/>
            <a:ext cx="9246600" cy="11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D1117"/>
                </a:solidFill>
              </a:rPr>
              <a:t>A safety complaint arrives. A QA manager approves once, and the agent holds only the right orders. Red Batch runs as a governed UiPath Maestro Case agent that saves a record you can reopen.</a:t>
            </a:r>
            <a:endParaRPr sz="1800">
              <a:solidFill>
                <a:srgbClr val="0D1117"/>
              </a:solidFill>
              <a:highlight>
                <a:srgbClr val="F0F6FC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2000"/>
          </a:p>
        </p:txBody>
      </p:sp>
      <p:sp>
        <p:nvSpPr>
          <p:cNvPr id="169" name="Google Shape;169;p1"/>
          <p:cNvSpPr txBox="1"/>
          <p:nvPr>
            <p:ph type="title"/>
          </p:nvPr>
        </p:nvSpPr>
        <p:spPr>
          <a:xfrm>
            <a:off x="464800" y="1492775"/>
            <a:ext cx="8568000" cy="17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300" u="sng"/>
              <a:t>Red Batch</a:t>
            </a:r>
            <a:endParaRPr sz="5300" u="sng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u="sng"/>
              <a:t>Governed batch containment</a:t>
            </a:r>
            <a:endParaRPr sz="5300" u="sng"/>
          </a:p>
        </p:txBody>
      </p:sp>
      <p:pic>
        <p:nvPicPr>
          <p:cNvPr id="170" name="Google Shape;170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06775" y="778600"/>
            <a:ext cx="3861067" cy="2171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"/>
          <p:cNvSpPr txBox="1"/>
          <p:nvPr>
            <p:ph type="title"/>
          </p:nvPr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24"/>
              </a:buClr>
              <a:buSzPts val="3000"/>
              <a:buFont typeface="Arial"/>
              <a:buNone/>
            </a:pPr>
            <a:r>
              <a:rPr lang="en-US">
                <a:solidFill>
                  <a:srgbClr val="172024"/>
                </a:solidFill>
              </a:rPr>
              <a:t>Problem statement and proposed solution</a:t>
            </a:r>
            <a:endParaRPr>
              <a:solidFill>
                <a:srgbClr val="172024"/>
              </a:solidFill>
            </a:endParaRPr>
          </a:p>
        </p:txBody>
      </p:sp>
      <p:sp>
        <p:nvSpPr>
          <p:cNvPr id="176" name="Google Shape;176;p3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7" name="Google Shape;177;p3"/>
          <p:cNvSpPr txBox="1"/>
          <p:nvPr>
            <p:ph idx="1" type="body"/>
          </p:nvPr>
        </p:nvSpPr>
        <p:spPr>
          <a:xfrm>
            <a:off x="360000" y="1440000"/>
            <a:ext cx="5040000" cy="2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/>
              <a:t>Problem</a:t>
            </a:r>
            <a:endParaRPr/>
          </a:p>
        </p:txBody>
      </p:sp>
      <p:sp>
        <p:nvSpPr>
          <p:cNvPr id="178" name="Google Shape;178;p3"/>
          <p:cNvSpPr txBox="1"/>
          <p:nvPr>
            <p:ph idx="2" type="body"/>
          </p:nvPr>
        </p:nvSpPr>
        <p:spPr>
          <a:xfrm>
            <a:off x="229100" y="1952325"/>
            <a:ext cx="4616700" cy="452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45720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D1D1F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1D1D1F"/>
                </a:solidFill>
                <a:highlight>
                  <a:srgbClr val="FFFFFF"/>
                </a:highlight>
              </a:rPr>
              <a:t>A safety complaint lands on a lot you may still be shipping, and you have minutes to act. Both usual options are bad: freeze the whole warehouse and you break shipping for everyone, or chase the affected orders by hand in a spreadsheet while defective units keep going out. Neither one holds the right orders behind a human sign-off, and neither leaves proof of what changed.</a:t>
            </a:r>
            <a:endParaRPr/>
          </a:p>
        </p:txBody>
      </p:sp>
      <p:sp>
        <p:nvSpPr>
          <p:cNvPr id="179" name="Google Shape;179;p3"/>
          <p:cNvSpPr txBox="1"/>
          <p:nvPr>
            <p:ph idx="3" type="body"/>
          </p:nvPr>
        </p:nvSpPr>
        <p:spPr>
          <a:xfrm>
            <a:off x="6089650" y="1440000"/>
            <a:ext cx="5040000" cy="2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</a:pPr>
            <a:r>
              <a:rPr lang="en-US"/>
              <a:t>Solution</a:t>
            </a:r>
            <a:endParaRPr/>
          </a:p>
        </p:txBody>
      </p:sp>
      <p:sp>
        <p:nvSpPr>
          <p:cNvPr id="180" name="Google Shape;180;p3"/>
          <p:cNvSpPr txBox="1"/>
          <p:nvPr>
            <p:ph idx="4" type="body"/>
          </p:nvPr>
        </p:nvSpPr>
        <p:spPr>
          <a:xfrm>
            <a:off x="6089650" y="1800000"/>
            <a:ext cx="5255700" cy="4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D1D1F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1D1D1F"/>
                </a:solidFill>
                <a:highlight>
                  <a:srgbClr val="FFFFFF"/>
                </a:highlight>
              </a:rPr>
              <a:t>Red Batch is a governed containment workspace. The Batch Containment Agent maps the bad lot to its SKU and warehouse, then fans out across every Ready-to-Ship order in scope: 37 to hold, 11 excluded with a reason each. Nothing moves until a QA manager approves the hold in a real UiPath Action Center task. On sign-off, the agent quarantines those orders (about $360,480 across 3 zones), reads the state back to confirm every one (37/37), and saves a reopenable Stop-Ship Packet. When unsure, it asks a person.</a:t>
            </a:r>
            <a:endParaRPr>
              <a:solidFill>
                <a:srgbClr val="1D1D1F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D1D1F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D1D1F"/>
              </a:solidFill>
              <a:highlight>
                <a:srgbClr val="FFFFFF"/>
              </a:highlight>
            </a:endParaRPr>
          </a:p>
          <a:p>
            <a:pPr indent="0" lvl="0" marL="457200" rtl="0" algn="l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2400"/>
          </a:p>
        </p:txBody>
      </p:sp>
      <p:sp>
        <p:nvSpPr>
          <p:cNvPr id="181" name="Google Shape;181;p3"/>
          <p:cNvSpPr txBox="1"/>
          <p:nvPr/>
        </p:nvSpPr>
        <p:spPr>
          <a:xfrm>
            <a:off x="0" y="2721889"/>
            <a:ext cx="12179400" cy="3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4"/>
          <p:cNvSpPr txBox="1"/>
          <p:nvPr/>
        </p:nvSpPr>
        <p:spPr>
          <a:xfrm>
            <a:off x="259203" y="360000"/>
            <a:ext cx="9000000" cy="499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Benefits and technologies used</a:t>
            </a:r>
            <a:endParaRPr b="1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4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188" name="Google Shape;188;p4"/>
          <p:cNvGraphicFramePr/>
          <p:nvPr/>
        </p:nvGraphicFramePr>
        <p:xfrm>
          <a:off x="259199" y="119618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{D7072550-EF59-46E0-827C-C5B7B6B1D680}</a:tableStyleId>
              </a:tblPr>
              <a:tblGrid>
                <a:gridCol w="2377850"/>
                <a:gridCol w="2761375"/>
              </a:tblGrid>
              <a:tr h="1212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Arial"/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End-user​</a:t>
                      </a:r>
                      <a:endParaRPr b="1" i="0" sz="1700" u="none" cap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/>
                        <a:t>Quality / Safety Ops leads, QA managers, Customer Ops, Auditors</a:t>
                      </a:r>
                      <a:endParaRPr sz="1700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</a:tr>
              <a:tr h="1212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Arial"/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User department</a:t>
                      </a:r>
                      <a:r>
                        <a:rPr b="0" i="0" lang="en-US" sz="17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​</a:t>
                      </a:r>
                      <a:endParaRPr b="0" i="0" sz="1700" u="none" cap="none" strike="noStrike">
                        <a:solidFill>
                          <a:srgbClr val="000000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/>
                        <a:t>Product Quality &amp; Safety, Warehouse Operations, Compliance</a:t>
                      </a:r>
                      <a:endParaRPr sz="1700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</a:tr>
              <a:tr h="920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Arial"/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Industries</a:t>
                      </a:r>
                      <a:r>
                        <a:rPr b="0" i="0" lang="en-US" sz="17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​</a:t>
                      </a:r>
                      <a:endParaRPr b="0" i="0" sz="1700" u="none" cap="none" strike="noStrike">
                        <a:solidFill>
                          <a:srgbClr val="000000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/>
                        <a:t>Consumer Electronics, Manufacturing, Retail &amp; E-commerce, Supply Chain</a:t>
                      </a:r>
                      <a:endParaRPr sz="1700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</a:tr>
              <a:tr h="920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Arial"/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UiPath products used</a:t>
                      </a:r>
                      <a:r>
                        <a:rPr b="0" i="0" lang="en-US" sz="17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​</a:t>
                      </a:r>
                      <a:endParaRPr b="0" i="0" sz="1700" u="none" cap="none" strike="noStrike">
                        <a:solidFill>
                          <a:srgbClr val="000000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700"/>
                        <a:t>UiPath Automation Cloud (Orchestrator) · UiPath Action Center (Actions / OR.Tasks) · UiPath Orchestrator REST API · UiPath External Applications (OAuth)</a:t>
                      </a:r>
                      <a:endParaRPr b="0" i="0" sz="1700" u="none" cap="none" strike="noStrike">
                        <a:solidFill>
                          <a:srgbClr val="000000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</a:tr>
              <a:tr h="11723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800"/>
                        <a:buFont typeface="Arial"/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Other - integrations / APIs / technologies used</a:t>
                      </a:r>
                      <a:r>
                        <a:rPr b="0" i="0" lang="en-US" sz="17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​</a:t>
                      </a:r>
                      <a:endParaRPr b="0" i="0" sz="1700" u="none" cap="none" strike="noStrike">
                        <a:solidFill>
                          <a:srgbClr val="000000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700"/>
                        <a:t>Next.js (App Router) · React · TypeScript · Tailwind CSS · Node.js · node:sqlite / Cloudflare D1 · OpenAI-compatible LLM (narration)</a:t>
                      </a:r>
                      <a:endParaRPr b="0" i="0" sz="1700" u="none" cap="none" strike="noStrike">
                        <a:solidFill>
                          <a:srgbClr val="000000"/>
                        </a:solidFill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375">
                      <a:solidFill>
                        <a:srgbClr val="DFE3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32C4F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A2B3"/>
                    </a:solidFill>
                  </a:tcPr>
                </a:tc>
              </a:tr>
            </a:tbl>
          </a:graphicData>
        </a:graphic>
      </p:graphicFrame>
      <p:sp>
        <p:nvSpPr>
          <p:cNvPr id="189" name="Google Shape;189;p4"/>
          <p:cNvSpPr/>
          <p:nvPr/>
        </p:nvSpPr>
        <p:spPr>
          <a:xfrm>
            <a:off x="359999" y="859929"/>
            <a:ext cx="10398300" cy="64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 </a:t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4"/>
          <p:cNvSpPr/>
          <p:nvPr/>
        </p:nvSpPr>
        <p:spPr>
          <a:xfrm>
            <a:off x="6438691" y="1016651"/>
            <a:ext cx="5497800" cy="4896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Benefits, impact and outcomes</a:t>
            </a:r>
            <a:endParaRPr sz="1500"/>
          </a:p>
        </p:txBody>
      </p:sp>
      <p:sp>
        <p:nvSpPr>
          <p:cNvPr id="191" name="Google Shape;191;p4"/>
          <p:cNvSpPr txBox="1"/>
          <p:nvPr/>
        </p:nvSpPr>
        <p:spPr>
          <a:xfrm>
            <a:off x="6302301" y="1779735"/>
            <a:ext cx="5500500" cy="442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1D1D1F"/>
              </a:buClr>
              <a:buSzPts val="1800"/>
              <a:buChar char="●"/>
            </a:pPr>
            <a:r>
              <a:rPr lang="en-US" sz="1800">
                <a:solidFill>
                  <a:srgbClr val="1D1D1F"/>
                </a:solidFill>
                <a:highlight>
                  <a:srgbClr val="FFFFFF"/>
                </a:highlight>
              </a:rPr>
              <a:t>Holds the right orders, not the whole warehouse: 37 held, 11 excluded with a reason each.</a:t>
            </a:r>
            <a:endParaRPr sz="1800">
              <a:solidFill>
                <a:srgbClr val="1D1D1F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F"/>
              </a:buClr>
              <a:buSzPts val="1800"/>
              <a:buChar char="●"/>
            </a:pPr>
            <a:r>
              <a:rPr lang="en-US" sz="1800">
                <a:solidFill>
                  <a:srgbClr val="1D1D1F"/>
                </a:solidFill>
                <a:highlight>
                  <a:srgbClr val="FFFFFF"/>
                </a:highlight>
              </a:rPr>
              <a:t>A real person signs off in a live UiPath Action Center task before any state changes.</a:t>
            </a:r>
            <a:endParaRPr sz="1800">
              <a:solidFill>
                <a:srgbClr val="1D1D1F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F"/>
              </a:buClr>
              <a:buSzPts val="1800"/>
              <a:buChar char="●"/>
            </a:pPr>
            <a:r>
              <a:rPr lang="en-US" sz="1800">
                <a:solidFill>
                  <a:srgbClr val="1D1D1F"/>
                </a:solidFill>
                <a:highlight>
                  <a:srgbClr val="FFFFFF"/>
                </a:highlight>
              </a:rPr>
              <a:t>Every run ends in a reopenable Stop-Ship Packet: before and after state, evidence, the approver's name, and the exclusions.</a:t>
            </a:r>
            <a:endParaRPr sz="1800">
              <a:solidFill>
                <a:srgbClr val="1D1D1F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D1D1F"/>
              </a:buClr>
              <a:buSzPts val="1800"/>
              <a:buChar char="●"/>
            </a:pPr>
            <a:r>
              <a:rPr lang="en-US" sz="1800">
                <a:solidFill>
                  <a:srgbClr val="1D1D1F"/>
                </a:solidFill>
                <a:highlight>
                  <a:srgbClr val="FFFFFF"/>
                </a:highlight>
              </a:rPr>
              <a:t>When the agent is not confident, a person reviews the case. Every step writes a governed run you can audit.</a:t>
            </a:r>
            <a:endParaRPr sz="1800">
              <a:solidFill>
                <a:srgbClr val="1D1D1F"/>
              </a:solidFill>
              <a:highlight>
                <a:srgbClr val="FFFFFF"/>
              </a:highlight>
            </a:endParaRPr>
          </a:p>
          <a:p>
            <a:pPr indent="0" lvl="0" marL="457200" marR="0" rtl="0" algn="l">
              <a:lnSpc>
                <a:spcPct val="122222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5"/>
          <p:cNvSpPr txBox="1"/>
          <p:nvPr>
            <p:ph idx="12" type="sldNum"/>
          </p:nvPr>
        </p:nvSpPr>
        <p:spPr>
          <a:xfrm>
            <a:off x="11574470" y="6480000"/>
            <a:ext cx="157094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7" name="Google Shape;197;p5"/>
          <p:cNvSpPr/>
          <p:nvPr/>
        </p:nvSpPr>
        <p:spPr>
          <a:xfrm>
            <a:off x="359999" y="859929"/>
            <a:ext cx="10398312" cy="64633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Times New Roman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 </a:t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5"/>
          <p:cNvSpPr txBox="1"/>
          <p:nvPr/>
        </p:nvSpPr>
        <p:spPr>
          <a:xfrm>
            <a:off x="359999" y="360000"/>
            <a:ext cx="90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Solution architecture</a:t>
            </a:r>
            <a:endParaRPr b="1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5"/>
          <p:cNvSpPr txBox="1"/>
          <p:nvPr/>
        </p:nvSpPr>
        <p:spPr>
          <a:xfrm>
            <a:off x="-1" y="1414435"/>
            <a:ext cx="11459400" cy="442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72024"/>
                </a:solidFill>
              </a:rPr>
              <a:t>How it works</a:t>
            </a:r>
            <a:endParaRPr sz="2100">
              <a:solidFill>
                <a:srgbClr val="1D1D1F"/>
              </a:solidFill>
              <a:highlight>
                <a:srgbClr val="FFFFFF"/>
              </a:highlight>
            </a:endParaRPr>
          </a:p>
          <a:p>
            <a:r>
              <a:rPr sz="1500" b="0">
                <a:solidFill>
                  <a:srgbClr val="1D1D1F"/>
                </a:solidFill>
              </a:rPr>
              <a:t>Risk signal → Batch Containment Agent (observe → map lot/SKU/warehouse → fan-out orders → classify exclusions) → QA approval = live UiPath Action Center task (CreateTask / CompleteTask) → quarantine order state → verify by read-back (37/37) → saved Stop-Ship Packet. Every step writes a governed run + timeline event.</a:t>
            </a:r>
          </a:p>
          <a:p>
            <a:r>
              <a:rPr sz="1500" b="0">
                <a:solidFill>
                  <a:srgbClr val="1D1D1F"/>
                </a:solidFill>
              </a:rPr>
              <a:t>Agent type:  Coded Agent (custom TypeScript), governed by UiPath Action Center. Deterministic policy; optional additive LLM narration.</a:t>
            </a:r>
          </a:p>
          <a:p>
            <a:r>
              <a:rPr sz="1500" b="0">
                <a:solidFill>
                  <a:srgbClr val="1D1D1F"/>
                </a:solidFill>
              </a:rPr>
              <a:t>UiPath: Automation Cloud (Orchestrator) · Action Center (OR.Tasks) · Orchestrator API · External Applications (OAuth).   App: Next.js · React · TypeScript · D1 / node:sqlite.</a:t>
            </a:r>
          </a:p>
          <a:p>
            <a:r>
              <a:rPr sz="1500" b="1">
                <a:solidFill>
                  <a:srgbClr val="1D1D1F"/>
                </a:solidFill>
              </a:rPr>
              <a:t>Live app:  https://red-batch.veithly.workers.dev    ·    Repo:  https://github.com/veithly/red-batch</a:t>
            </a:r>
          </a:p>
          <a:p>
            <a:r>
              <a:rPr sz="1500" b="1">
                <a:solidFill>
                  <a:srgbClr val="1D1D1F"/>
                </a:solidFill>
              </a:rPr>
              <a:t>Demo video:  https://youtu.be/tABpObnVRIs    ·    UiPath environment:  https://cloud.uipath.com/rickopc/DefaultTenant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329184" y="3968496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D1D1F"/>
                </a:solidFill>
              </a:rPr>
              <a:t>Live in the UiPath tenant — coded agent published (Tenant → Packages, left) and deployed as a Process (Shared → Processes, right)</a:t>
            </a:r>
          </a:p>
        </p:txBody>
      </p:sp>
      <p:pic>
        <p:nvPicPr>
          <p:cNvPr id="201" name="Picture 200" descr="uipath-orchestrator-pac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4261104"/>
            <a:ext cx="4389120" cy="2377690"/>
          </a:xfrm>
          <a:prstGeom prst="rect">
            <a:avLst/>
          </a:prstGeom>
          <a:ln w="9525">
            <a:solidFill>
              <a:srgbClr val="C8CCD0"/>
            </a:solidFill>
          </a:ln>
        </p:spPr>
      </p:pic>
      <p:pic>
        <p:nvPicPr>
          <p:cNvPr id="202" name="Picture 201" descr="uipath-orchestrator-proce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088" y="4261104"/>
            <a:ext cx="4389120" cy="2377690"/>
          </a:xfrm>
          <a:prstGeom prst="rect">
            <a:avLst/>
          </a:prstGeom>
          <a:ln w="9525">
            <a:solidFill>
              <a:srgbClr val="C8CCD0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rimary Presentation Layouts">
  <a:themeElements>
    <a:clrScheme name="UiPath colors">
      <a:dk1>
        <a:srgbClr val="172024"/>
      </a:dk1>
      <a:lt1>
        <a:srgbClr val="FFFFFF"/>
      </a:lt1>
      <a:dk2>
        <a:srgbClr val="9D9D9D"/>
      </a:dk2>
      <a:lt2>
        <a:srgbClr val="F6F6F6"/>
      </a:lt2>
      <a:accent1>
        <a:srgbClr val="FA4616"/>
      </a:accent1>
      <a:accent2>
        <a:srgbClr val="1E6482"/>
      </a:accent2>
      <a:accent3>
        <a:srgbClr val="A32200"/>
      </a:accent3>
      <a:accent4>
        <a:srgbClr val="0BA2B3"/>
      </a:accent4>
      <a:accent5>
        <a:srgbClr val="8B288A"/>
      </a:accent5>
      <a:accent6>
        <a:srgbClr val="FA7678"/>
      </a:accent6>
      <a:hlink>
        <a:srgbClr val="5BCBDE"/>
      </a:hlink>
      <a:folHlink>
        <a:srgbClr val="5BCBD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rimary Presentation Layouts">
  <a:themeElements>
    <a:clrScheme name="Primary Presentation Layouts">
      <a:dk1>
        <a:srgbClr val="000000"/>
      </a:dk1>
      <a:lt1>
        <a:srgbClr val="FFFFFF"/>
      </a:lt1>
      <a:dk2>
        <a:srgbClr val="9D9D9D"/>
      </a:dk2>
      <a:lt2>
        <a:srgbClr val="A32200"/>
      </a:lt2>
      <a:accent1>
        <a:srgbClr val="FCC0C5"/>
      </a:accent1>
      <a:accent2>
        <a:srgbClr val="5BCBDE"/>
      </a:accent2>
      <a:accent3>
        <a:srgbClr val="F6F6F6"/>
      </a:accent3>
      <a:accent4>
        <a:srgbClr val="434648"/>
      </a:accent4>
      <a:accent5>
        <a:srgbClr val="FFCBFF"/>
      </a:accent5>
      <a:accent6>
        <a:srgbClr val="1168CD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2025-06-06T15:41:05Z</dcterms:created>
  <dc:creator>Andreea Tomescu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0x0101006586BB0CA657274B8C976C7E0436D499</vt:lpwstr>
  </property>
  <property fmtid="{D5CDD505-2E9C-101B-9397-08002B2CF9AE}" pid="3" name="MediaServiceImageTags">
    <vt:lpwstr/>
  </property>
</Properties>
</file>