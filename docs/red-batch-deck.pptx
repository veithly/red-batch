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793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itllkBOpSIo+foDNAV8ppHfAkj3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7072550-EF59-46E0-827C-C5B7B6B1D680}">
  <a:tblStyle styleId="{D7072550-EF59-46E0-827C-C5B7B6B1D6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0BA2B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89770" y="5461000"/>
            <a:ext cx="15240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9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3" name="Google Shape;13;p9"/>
          <p:cNvSpPr txBox="1"/>
          <p:nvPr>
            <p:ph idx="1" type="body"/>
          </p:nvPr>
        </p:nvSpPr>
        <p:spPr>
          <a:xfrm>
            <a:off x="640800" y="5886454"/>
            <a:ext cx="8280000" cy="451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9"/>
          <p:cNvSpPr txBox="1"/>
          <p:nvPr>
            <p:ph type="title"/>
          </p:nvPr>
        </p:nvSpPr>
        <p:spPr>
          <a:xfrm>
            <a:off x="640800" y="4843803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16" name="Google Shape;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16196" y="435122"/>
            <a:ext cx="1116970" cy="363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">
  <p:cSld name="Slide with logo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10"/>
          <p:cNvSpPr/>
          <p:nvPr/>
        </p:nvSpPr>
        <p:spPr>
          <a:xfrm>
            <a:off x="10297948" y="1240221"/>
            <a:ext cx="1481958" cy="6726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131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B4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ntents">
  <p:cSld name="Title and 2 Conten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9650" y="0"/>
            <a:ext cx="6089650" cy="2087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400"/>
            <a:ext cx="4178300" cy="416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1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1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1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1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1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7661" y="404660"/>
            <a:ext cx="1063903" cy="346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 showMasterSp="0">
  <p:cSld name="Custom Layou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34" name="Google Shape;3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2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36" name="Google Shape;3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0348" y="393566"/>
            <a:ext cx="6557643" cy="355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accent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7670" y="5461000"/>
            <a:ext cx="18161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529" y="190499"/>
            <a:ext cx="18161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13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42" name="Google Shape;42;p13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640800" y="5850000"/>
            <a:ext cx="3818481" cy="63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322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A322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40800" y="4574120"/>
            <a:ext cx="8822225" cy="914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3"/>
          <p:cNvSpPr txBox="1"/>
          <p:nvPr>
            <p:ph idx="3" type="subTitle"/>
          </p:nvPr>
        </p:nvSpPr>
        <p:spPr>
          <a:xfrm>
            <a:off x="644227" y="2845823"/>
            <a:ext cx="8820000" cy="1513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46" name="Google Shape;4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1449" y="507429"/>
            <a:ext cx="1496116" cy="748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Dark" showMasterSp="0">
  <p:cSld name="Title and Content Dark">
    <p:bg>
      <p:bgPr>
        <a:solidFill>
          <a:schemeClr val="accent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Teal" showMasterSp="0">
  <p:cSld name="1_Title and Content Teal">
    <p:bg>
      <p:bgPr>
        <a:solidFill>
          <a:schemeClr val="accent4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">
  <p:cSld name="Headline 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 Dark" showMasterSp="0">
  <p:cSld name="Headline only Dark">
    <p:bg>
      <p:bgPr>
        <a:solidFill>
          <a:schemeClr val="accen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eadline only Teal" showMasterSp="0">
  <p:cSld name="1_Headline only Teal">
    <p:bg>
      <p:bgPr>
        <a:solidFill>
          <a:schemeClr val="accent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>
  <p:cSld name="Comparison">
    <p:bg>
      <p:bgPr>
        <a:solidFill>
          <a:schemeClr val="accent3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56788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20"/>
          <p:cNvSpPr txBox="1"/>
          <p:nvPr>
            <p:ph type="title"/>
          </p:nvPr>
        </p:nvSpPr>
        <p:spPr>
          <a:xfrm>
            <a:off x="359999" y="1674394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>
            <a:off x="6480000" y="1674393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2" type="body"/>
          </p:nvPr>
        </p:nvSpPr>
        <p:spPr>
          <a:xfrm>
            <a:off x="648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20"/>
          <p:cNvSpPr txBox="1"/>
          <p:nvPr>
            <p:ph idx="3" type="body"/>
          </p:nvPr>
        </p:nvSpPr>
        <p:spPr>
          <a:xfrm>
            <a:off x="36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20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Slide" showMasterSp="0">
  <p:cSld name="Quote Slide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0" name="Google Shape;90;p21"/>
          <p:cNvSpPr txBox="1"/>
          <p:nvPr/>
        </p:nvSpPr>
        <p:spPr>
          <a:xfrm>
            <a:off x="1343734" y="2179914"/>
            <a:ext cx="239177" cy="327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1" name="Google Shape;91;p21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 flipH="1" rot="10800000">
            <a:off x="9366432" y="5569929"/>
            <a:ext cx="505472" cy="505473"/>
          </a:xfrm>
          <a:prstGeom prst="rect">
            <a:avLst/>
          </a:prstGeom>
          <a:solidFill>
            <a:srgbClr val="0BA2B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 txBox="1"/>
          <p:nvPr>
            <p:ph type="title"/>
          </p:nvPr>
        </p:nvSpPr>
        <p:spPr>
          <a:xfrm>
            <a:off x="1591200" y="2187168"/>
            <a:ext cx="8405525" cy="1977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  <a:defRPr sz="38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1591200" y="4421963"/>
            <a:ext cx="7025229" cy="835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374886" y="5067046"/>
            <a:ext cx="20066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/>
          <p:nvPr>
            <p:ph idx="2" type="pic"/>
          </p:nvPr>
        </p:nvSpPr>
        <p:spPr>
          <a:xfrm>
            <a:off x="7937500" y="1447601"/>
            <a:ext cx="4241800" cy="5410399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22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360000" y="144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2"/>
          <p:cNvSpPr txBox="1"/>
          <p:nvPr>
            <p:ph idx="3" type="body"/>
          </p:nvPr>
        </p:nvSpPr>
        <p:spPr>
          <a:xfrm>
            <a:off x="360000" y="1799999"/>
            <a:ext cx="72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7500" y="3935445"/>
            <a:ext cx="9652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2"/>
          <p:cNvSpPr txBox="1"/>
          <p:nvPr>
            <p:ph idx="4" type="body"/>
          </p:nvPr>
        </p:nvSpPr>
        <p:spPr>
          <a:xfrm>
            <a:off x="2793987" y="4888595"/>
            <a:ext cx="6980036" cy="1969405"/>
          </a:xfrm>
          <a:prstGeom prst="rect">
            <a:avLst/>
          </a:prstGeom>
          <a:solidFill>
            <a:srgbClr val="CCF2FF"/>
          </a:solidFill>
          <a:ln>
            <a:noFill/>
          </a:ln>
        </p:spPr>
        <p:txBody>
          <a:bodyPr anchorCtr="0" anchor="t" bIns="317500" lIns="317500" spcFirstLastPara="1" rIns="317500" wrap="square" tIns="317500">
            <a:noAutofit/>
          </a:bodyPr>
          <a:lstStyle>
            <a:lvl1pPr indent="-228600" lvl="0" marL="457200" marR="0" rtl="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2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4" showMasterSp="0">
  <p:cSld name="TOC Slide 4">
    <p:bg>
      <p:bgPr>
        <a:solidFill>
          <a:schemeClr val="accent4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6000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3"/>
          <p:cNvSpPr txBox="1"/>
          <p:nvPr>
            <p:ph idx="2" type="body"/>
          </p:nvPr>
        </p:nvSpPr>
        <p:spPr>
          <a:xfrm>
            <a:off x="322999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23"/>
          <p:cNvSpPr txBox="1"/>
          <p:nvPr>
            <p:ph idx="3" type="body"/>
          </p:nvPr>
        </p:nvSpPr>
        <p:spPr>
          <a:xfrm>
            <a:off x="609998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3"/>
          <p:cNvSpPr txBox="1"/>
          <p:nvPr>
            <p:ph idx="4" type="body"/>
          </p:nvPr>
        </p:nvSpPr>
        <p:spPr>
          <a:xfrm>
            <a:off x="896997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8" showMasterSp="0">
  <p:cSld name="TOC Slide 8">
    <p:bg>
      <p:bgPr>
        <a:solidFill>
          <a:schemeClr val="accent4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24"/>
          <p:cNvSpPr txBox="1"/>
          <p:nvPr>
            <p:ph idx="1" type="body"/>
          </p:nvPr>
        </p:nvSpPr>
        <p:spPr>
          <a:xfrm>
            <a:off x="36000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24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4"/>
          <p:cNvSpPr txBox="1"/>
          <p:nvPr>
            <p:ph idx="2" type="body"/>
          </p:nvPr>
        </p:nvSpPr>
        <p:spPr>
          <a:xfrm>
            <a:off x="322999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1" name="Google Shape;121;p24"/>
          <p:cNvSpPr txBox="1"/>
          <p:nvPr>
            <p:ph idx="3" type="body"/>
          </p:nvPr>
        </p:nvSpPr>
        <p:spPr>
          <a:xfrm>
            <a:off x="609998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4" type="body"/>
          </p:nvPr>
        </p:nvSpPr>
        <p:spPr>
          <a:xfrm>
            <a:off x="896997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5" type="body"/>
          </p:nvPr>
        </p:nvSpPr>
        <p:spPr>
          <a:xfrm>
            <a:off x="36000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6" type="body"/>
          </p:nvPr>
        </p:nvSpPr>
        <p:spPr>
          <a:xfrm>
            <a:off x="322999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24"/>
          <p:cNvSpPr txBox="1"/>
          <p:nvPr>
            <p:ph idx="7" type="body"/>
          </p:nvPr>
        </p:nvSpPr>
        <p:spPr>
          <a:xfrm>
            <a:off x="609998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24"/>
          <p:cNvSpPr txBox="1"/>
          <p:nvPr>
            <p:ph idx="8" type="body"/>
          </p:nvPr>
        </p:nvSpPr>
        <p:spPr>
          <a:xfrm>
            <a:off x="896997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7" name="Google Shape;12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 Dark" showMasterSp="0">
  <p:cSld name="Agenda slide Table Dark">
    <p:bg>
      <p:bgPr>
        <a:solidFill>
          <a:schemeClr val="accen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" showMasterSp="0">
  <p:cSld name="Agenda slide Table">
    <p:bg>
      <p:bgPr>
        <a:solidFill>
          <a:schemeClr val="accent4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2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60000" y="2610760"/>
            <a:ext cx="3478685" cy="2108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2" type="body"/>
          </p:nvPr>
        </p:nvSpPr>
        <p:spPr>
          <a:xfrm>
            <a:off x="4308328" y="2610760"/>
            <a:ext cx="3478685" cy="2108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27"/>
          <p:cNvSpPr txBox="1"/>
          <p:nvPr>
            <p:ph idx="3" type="body"/>
          </p:nvPr>
        </p:nvSpPr>
        <p:spPr>
          <a:xfrm>
            <a:off x="8256655" y="2610760"/>
            <a:ext cx="3478685" cy="21082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 Dark" showMasterSp="0">
  <p:cSld name="Slide with logo Dark">
    <p:bg>
      <p:bgPr>
        <a:solidFill>
          <a:schemeClr val="accen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lide with logo Teal" showMasterSp="0">
  <p:cSld name="1_Slide with logo Teal">
    <p:bg>
      <p:bgPr>
        <a:solidFill>
          <a:schemeClr val="accent4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 showMasterSp="0">
  <p:cSld name="Thank You Slide">
    <p:bg>
      <p:bgPr>
        <a:solidFill>
          <a:schemeClr val="accen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54" name="Google Shape;15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0348" y="393566"/>
            <a:ext cx="6557644" cy="3556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17538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73690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7" name="Google Shape;157;p30"/>
          <p:cNvSpPr txBox="1"/>
          <p:nvPr>
            <p:ph idx="3" type="body"/>
          </p:nvPr>
        </p:nvSpPr>
        <p:spPr>
          <a:xfrm>
            <a:off x="6329842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30"/>
          <p:cNvSpPr txBox="1"/>
          <p:nvPr>
            <p:ph idx="4" type="body"/>
          </p:nvPr>
        </p:nvSpPr>
        <p:spPr>
          <a:xfrm>
            <a:off x="9185994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9" name="Google Shape;159;p30"/>
          <p:cNvSpPr txBox="1"/>
          <p:nvPr>
            <p:ph idx="5" type="body"/>
          </p:nvPr>
        </p:nvSpPr>
        <p:spPr>
          <a:xfrm>
            <a:off x="617538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6" type="body"/>
          </p:nvPr>
        </p:nvSpPr>
        <p:spPr>
          <a:xfrm>
            <a:off x="3473690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7" type="body"/>
          </p:nvPr>
        </p:nvSpPr>
        <p:spPr>
          <a:xfrm>
            <a:off x="6329842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30"/>
          <p:cNvSpPr txBox="1"/>
          <p:nvPr>
            <p:ph idx="8" type="body"/>
          </p:nvPr>
        </p:nvSpPr>
        <p:spPr>
          <a:xfrm>
            <a:off x="9185994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" name="Google Shape;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 txBox="1"/>
          <p:nvPr>
            <p:ph idx="1" type="body"/>
          </p:nvPr>
        </p:nvSpPr>
        <p:spPr>
          <a:xfrm>
            <a:off x="640800" y="3608250"/>
            <a:ext cx="9246600" cy="11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D1117"/>
                </a:solidFill>
              </a:rPr>
              <a:t>A product-safety complaint becomes a human-approved stop-ship on the exact right orders — a governed UiPath Maestro Case agent with a saved, reopenable record.</a:t>
            </a:r>
            <a:endParaRPr sz="1800">
              <a:solidFill>
                <a:srgbClr val="0D1117"/>
              </a:solidFill>
              <a:highlight>
                <a:srgbClr val="F0F6F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69" name="Google Shape;169;p1"/>
          <p:cNvSpPr txBox="1"/>
          <p:nvPr>
            <p:ph type="title"/>
          </p:nvPr>
        </p:nvSpPr>
        <p:spPr>
          <a:xfrm>
            <a:off x="464800" y="1492775"/>
            <a:ext cx="8568000" cy="17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300" u="sng"/>
              <a:t>Red Batch</a:t>
            </a:r>
            <a:endParaRPr sz="5300" u="sng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sng"/>
              <a:t>Governed batch containment</a:t>
            </a:r>
            <a:endParaRPr sz="5300" u="sng"/>
          </a:p>
        </p:txBody>
      </p:sp>
      <p:pic>
        <p:nvPicPr>
          <p:cNvPr id="170" name="Google Shape;170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6775" y="778600"/>
            <a:ext cx="3861067" cy="217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24"/>
              </a:buClr>
              <a:buSzPts val="3000"/>
              <a:buFont typeface="Arial"/>
              <a:buNone/>
            </a:pPr>
            <a:r>
              <a:rPr lang="en-US">
                <a:solidFill>
                  <a:srgbClr val="172024"/>
                </a:solidFill>
              </a:rPr>
              <a:t>Problem statement and proposed solution</a:t>
            </a:r>
            <a:endParaRPr>
              <a:solidFill>
                <a:srgbClr val="172024"/>
              </a:solidFill>
            </a:endParaRPr>
          </a:p>
        </p:txBody>
      </p:sp>
      <p:sp>
        <p:nvSpPr>
          <p:cNvPr id="176" name="Google Shape;176;p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3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78" name="Google Shape;178;p3"/>
          <p:cNvSpPr txBox="1"/>
          <p:nvPr>
            <p:ph idx="2" type="body"/>
          </p:nvPr>
        </p:nvSpPr>
        <p:spPr>
          <a:xfrm>
            <a:off x="229100" y="1952325"/>
            <a:ext cx="4616700" cy="45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D1D1F"/>
                </a:solidFill>
                <a:highlight>
                  <a:srgbClr val="FFFFFF"/>
                </a:highlight>
              </a:rPr>
              <a:t>When a safety complaint lands on a lot you might still be shipping, you have minutes, not days. Teams either freeze the whole warehouse — and break shipping for everyone — or chase orders by hand in a spreadsheet while defective units keep going out. There is no fast, governed way to hold exactly the right orders, behind a human sign-off, with proof of what changed.</a:t>
            </a:r>
            <a:endParaRPr/>
          </a:p>
        </p:txBody>
      </p:sp>
      <p:sp>
        <p:nvSpPr>
          <p:cNvPr id="179" name="Google Shape;179;p3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Solution</a:t>
            </a:r>
            <a:endParaRPr/>
          </a:p>
        </p:txBody>
      </p:sp>
      <p:sp>
        <p:nvSpPr>
          <p:cNvPr id="180" name="Google Shape;180;p3"/>
          <p:cNvSpPr txBox="1"/>
          <p:nvPr>
            <p:ph idx="4" type="body"/>
          </p:nvPr>
        </p:nvSpPr>
        <p:spPr>
          <a:xfrm>
            <a:off x="6089650" y="1800000"/>
            <a:ext cx="52557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D1D1F"/>
                </a:solidFill>
                <a:highlight>
                  <a:srgbClr val="FFFFFF"/>
                </a:highlight>
              </a:rPr>
              <a:t>Red Batch is a governed containment workspace. The Batch Containment Agent traces the bad lot to its SKU and warehouse and fans out to every Ready-to-Ship order in scope (37 to hold, 11 excluded with a reason each). Nothing changes until a QA manager approves — a real UiPath Action Center task. On approval it quarantines those orders (≈$360,480 across 3 zones), verifies by reading back (37/37), and saves a reopenable Stop-Ship Packet. Low-confidence signals route to human review.</a:t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1" name="Google Shape;181;p3"/>
          <p:cNvSpPr txBox="1"/>
          <p:nvPr/>
        </p:nvSpPr>
        <p:spPr>
          <a:xfrm>
            <a:off x="0" y="2721889"/>
            <a:ext cx="12179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"/>
          <p:cNvSpPr txBox="1"/>
          <p:nvPr/>
        </p:nvSpPr>
        <p:spPr>
          <a:xfrm>
            <a:off x="259203" y="360000"/>
            <a:ext cx="9000000" cy="49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 and technologies used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88" name="Google Shape;188;p4"/>
          <p:cNvGraphicFramePr/>
          <p:nvPr/>
        </p:nvGraphicFramePr>
        <p:xfrm>
          <a:off x="259199" y="119618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{D7072550-EF59-46E0-827C-C5B7B6B1D680}</a:tableStyleId>
              </a:tblPr>
              <a:tblGrid>
                <a:gridCol w="2377850"/>
                <a:gridCol w="2761375"/>
              </a:tblGrid>
              <a:tr h="1212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End-user​</a:t>
                      </a:r>
                      <a:endParaRPr b="1" i="0" sz="17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Quality / Safety Ops leads, QA managers, Customer Ops, Auditors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212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department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Product Quality &amp; Safety, Warehouse Operations, Compliance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Industries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Consumer Electronics, Manufacturing, Retail &amp; E-commerce, Supply Chain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UiPath products used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700"/>
                        <a:t>UiPath Automation Cloud (Orchestrator) · UiPath Action Center (Actions / OR.Tasks) · UiPath Orchestrator REST API · UiPath External Applications (OAuth)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17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 - integrations / APIs / technologies used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700"/>
                        <a:t>Next.js (App Router) · React · TypeScript · Tailwind CSS · Node.js · node:sqlite / Cloudflare D1 · OpenAI-compatible LLM (narration)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89" name="Google Shape;189;p4"/>
          <p:cNvSpPr/>
          <p:nvPr/>
        </p:nvSpPr>
        <p:spPr>
          <a:xfrm>
            <a:off x="359999" y="859929"/>
            <a:ext cx="103983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/>
          <p:nvPr/>
        </p:nvSpPr>
        <p:spPr>
          <a:xfrm>
            <a:off x="6438691" y="1016651"/>
            <a:ext cx="54978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Benefits, impact and outcomes</a:t>
            </a:r>
            <a:endParaRPr sz="1500"/>
          </a:p>
        </p:txBody>
      </p:sp>
      <p:sp>
        <p:nvSpPr>
          <p:cNvPr id="191" name="Google Shape;191;p4"/>
          <p:cNvSpPr txBox="1"/>
          <p:nvPr/>
        </p:nvSpPr>
        <p:spPr>
          <a:xfrm>
            <a:off x="6302301" y="1779735"/>
            <a:ext cx="5500500" cy="44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Holds exactly the right orders — 37 held, 11 excluded with a reason each — instead of freezing the whole warehouse.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Every state change is gated by a real human approval — a live UiPath Action Center task — before anything moves.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Verifiable outcome: a saved, reopenable Stop-Ship Packet with the before/after diff, evidence, named approver, and exclusions.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Honest, auditable automation: low-confidence cases route to human review; each step writes a governed run.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457200" marR="0" rtl="0" algn="l">
              <a:lnSpc>
                <a:spcPct val="122222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architecture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-1" y="1414435"/>
            <a:ext cx="11459400" cy="44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72024"/>
                </a:solidFill>
              </a:rPr>
              <a:t>How it works</a:t>
            </a:r>
            <a:endParaRPr sz="2100">
              <a:solidFill>
                <a:srgbClr val="1D1D1F"/>
              </a:solidFill>
              <a:highlight>
                <a:srgbClr val="FFFFFF"/>
              </a:highlight>
            </a:endParaRPr>
          </a:p>
          <a:p>
            <a:r>
              <a:rPr sz="1500" b="0">
                <a:solidFill>
                  <a:srgbClr val="1D1D1F"/>
                </a:solidFill>
              </a:rPr>
              <a:t>Risk signal → Batch Containment Agent (observe → map lot/SKU/warehouse → fan-out orders → classify exclusions) → QA approval = live UiPath Action Center task (CreateTask / CompleteTask) → quarantine order state → verify by read-back (37/37) → saved Stop-Ship Packet. Every step writes a governed run + timeline event.</a:t>
            </a:r>
          </a:p>
          <a:p>
            <a:r>
              <a:rPr sz="1500" b="0">
                <a:solidFill>
                  <a:srgbClr val="1D1D1F"/>
                </a:solidFill>
              </a:rPr>
              <a:t>Agent type:  Coded Agent (custom TypeScript), governed by UiPath Action Center. Deterministic policy; optional additive LLM narration.</a:t>
            </a:r>
          </a:p>
          <a:p>
            <a:r>
              <a:rPr sz="1500" b="0">
                <a:solidFill>
                  <a:srgbClr val="1D1D1F"/>
                </a:solidFill>
              </a:rPr>
              <a:t>UiPath: Automation Cloud (Orchestrator) · Action Center (OR.Tasks) · Orchestrator API · External Applications (OAuth).   App: Next.js · React · TypeScript · D1 / node:sqlite.</a:t>
            </a:r>
          </a:p>
          <a:p>
            <a:r>
              <a:rPr sz="1500" b="1">
                <a:solidFill>
                  <a:srgbClr val="1D1D1F"/>
                </a:solidFill>
              </a:rPr>
              <a:t>Live app:  https://red-batch.veithly.workers.dev    ·    Repo:  https://github.com/veithly/red-batch</a:t>
            </a:r>
          </a:p>
          <a:p>
            <a:r>
              <a:rPr sz="1500" b="1">
                <a:solidFill>
                  <a:srgbClr val="1D1D1F"/>
                </a:solidFill>
              </a:rPr>
              <a:t>Demo video:  https://youtu.be/tABpObnVRIs    ·    UiPath environment:  https://cloud.uipath.com/rickopc/DefaultTenant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imary Presentation Layouts">
  <a:themeElements>
    <a:clrScheme name="Primary Presentation Layouts">
      <a:dk1>
        <a:srgbClr val="000000"/>
      </a:dk1>
      <a:lt1>
        <a:srgbClr val="FFFFFF"/>
      </a:lt1>
      <a:dk2>
        <a:srgbClr val="9D9D9D"/>
      </a:dk2>
      <a:lt2>
        <a:srgbClr val="A32200"/>
      </a:lt2>
      <a:accent1>
        <a:srgbClr val="FCC0C5"/>
      </a:accent1>
      <a:accent2>
        <a:srgbClr val="5BCBDE"/>
      </a:accent2>
      <a:accent3>
        <a:srgbClr val="F6F6F6"/>
      </a:accent3>
      <a:accent4>
        <a:srgbClr val="434648"/>
      </a:accent4>
      <a:accent5>
        <a:srgbClr val="FFCBFF"/>
      </a:accent5>
      <a:accent6>
        <a:srgbClr val="1168C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2025-06-06T15:41:05Z</dcterms:created>
  <dc:creator>Andreea Tomescu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0x0101006586BB0CA657274B8C976C7E0436D499</vt:lpwstr>
  </property>
  <property fmtid="{D5CDD505-2E9C-101B-9397-08002B2CF9AE}" pid="3" name="MediaServiceImageTags">
    <vt:lpwstr/>
  </property>
</Properties>
</file>